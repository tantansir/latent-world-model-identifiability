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8229600" cy="640080"/>
          </a:xfrm>
          <a:prstGeom prst="rect">
            <a:avLst/>
          </a:prstGeom>
          <a:noFill/>
        </p:spPr>
        <p:txBody>
          <a:bodyPr wrap="square" lIns="0" tIns="18288" rIns="54864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343F"/>
                </a:solidFill>
                <a:latin typeface="Segoe UI"/>
              </a:rPr>
              <a:t>The certificate-gated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09928"/>
            <a:ext cx="1874519" cy="13716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15875">
            <a:solidFill>
              <a:srgbClr val="8A97A3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343F"/>
                </a:solidFill>
                <a:latin typeface="Segoe UI"/>
              </a:rPr>
              <a:t>raw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343F"/>
                </a:solidFill>
                <a:latin typeface="Segoe UI"/>
              </a:rPr>
              <a:t>observations</a:t>
            </a:r>
          </a:p>
        </p:txBody>
      </p:sp>
      <p:pic>
        <p:nvPicPr>
          <p:cNvPr id="4" name="Picture 3" descr="wave-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12848"/>
            <a:ext cx="365760" cy="365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926080" y="1709928"/>
            <a:ext cx="1874519" cy="13716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22225">
            <a:solidFill>
              <a:srgbClr val="3E5A75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343F"/>
                </a:solidFill>
                <a:latin typeface="Segoe UI"/>
              </a:rPr>
              <a:t>certificate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6343F"/>
                </a:solidFill>
                <a:latin typeface="Segoe UI"/>
              </a:rPr>
              <a:t>gate</a:t>
            </a:r>
          </a:p>
        </p:txBody>
      </p:sp>
      <p:pic>
        <p:nvPicPr>
          <p:cNvPr id="6" name="Picture 5" descr="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212848"/>
            <a:ext cx="36576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212080" y="1709928"/>
            <a:ext cx="2240280" cy="13716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AFBFD"/>
              </a:gs>
              <a:gs pos="100000">
                <a:srgbClr val="ECF0F4"/>
              </a:gs>
            </a:gsLst>
            <a:lin ang="16200000" scaled="0"/>
          </a:gradFill>
          <a:ln w="15875">
            <a:solidFill>
              <a:srgbClr val="8A97A3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343F"/>
                </a:solidFill>
                <a:latin typeface="Segoe UI"/>
              </a:rPr>
              <a:t>interventions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16B"/>
                </a:solidFill>
                <a:latin typeface="Segoe UI"/>
              </a:rPr>
              <a:t>inputs · targets · horizons</a:t>
            </a:r>
          </a:p>
        </p:txBody>
      </p:sp>
      <p:pic>
        <p:nvPicPr>
          <p:cNvPr id="8" name="Picture 7" descr="adjustments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2212848"/>
            <a:ext cx="365760" cy="365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709928"/>
            <a:ext cx="1476541" cy="13716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AF2FB"/>
              </a:gs>
              <a:gs pos="100000">
                <a:srgbClr val="D9E7F6"/>
              </a:gs>
            </a:gsLst>
            <a:lin ang="16200000" scaled="0"/>
          </a:gradFill>
          <a:ln w="15875">
            <a:solidFill>
              <a:srgbClr val="7FA1C4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343F"/>
                </a:solidFill>
                <a:latin typeface="Segoe UI"/>
              </a:rPr>
              <a:t>frozen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343F"/>
                </a:solidFill>
                <a:latin typeface="Segoe UI"/>
              </a:rPr>
              <a:t>latent</a:t>
            </a:r>
          </a:p>
        </p:txBody>
      </p:sp>
      <p:pic>
        <p:nvPicPr>
          <p:cNvPr id="10" name="Picture 9" descr="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4" y="2212848"/>
            <a:ext cx="365760" cy="365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751861" y="1298448"/>
            <a:ext cx="1828800" cy="6035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270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343F"/>
                </a:solidFill>
                <a:latin typeface="Segoe UI"/>
              </a:rPr>
              <a:t>linear / MLP probes</a:t>
            </a:r>
          </a:p>
        </p:txBody>
      </p:sp>
      <p:pic>
        <p:nvPicPr>
          <p:cNvPr id="12" name="Picture 11" descr="micr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589" y="1472184"/>
            <a:ext cx="256032" cy="25603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751861" y="2093976"/>
            <a:ext cx="1828800" cy="6035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270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343F"/>
                </a:solidFill>
                <a:latin typeface="Segoe UI"/>
              </a:rPr>
              <a:t>functional prediction</a:t>
            </a:r>
          </a:p>
        </p:txBody>
      </p:sp>
      <p:pic>
        <p:nvPicPr>
          <p:cNvPr id="14" name="Picture 13" descr="chart-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1589" y="2267712"/>
            <a:ext cx="256032" cy="2560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751861" y="2889504"/>
            <a:ext cx="1828800" cy="60350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F9FA"/>
              </a:gs>
              <a:gs pos="100000">
                <a:srgbClr val="F0F3F5"/>
              </a:gs>
            </a:gsLst>
            <a:lin ang="16200000" scaled="0"/>
          </a:gradFill>
          <a:ln w="12700">
            <a:solidFill>
              <a:srgbClr val="9AA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0624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343F"/>
                </a:solidFill>
                <a:latin typeface="Segoe UI"/>
              </a:rPr>
              <a:t>closed-loop control</a:t>
            </a:r>
          </a:p>
        </p:txBody>
      </p:sp>
      <p:pic>
        <p:nvPicPr>
          <p:cNvPr id="16" name="Picture 15" descr="refre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1589" y="3063240"/>
            <a:ext cx="256032" cy="25603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2551176" y="2395728"/>
            <a:ext cx="338328" cy="0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37176" y="2395728"/>
            <a:ext cx="338328" cy="0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88936" y="2395728"/>
            <a:ext cx="338328" cy="0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376957" y="1600200"/>
            <a:ext cx="338328" cy="795528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76957" y="2395728"/>
            <a:ext cx="338328" cy="0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376957" y="2395728"/>
            <a:ext cx="338328" cy="795528"/>
          </a:xfrm>
          <a:prstGeom prst="line">
            <a:avLst/>
          </a:prstGeom>
          <a:ln w="25400">
            <a:solidFill>
              <a:srgbClr val="5A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27248" y="3246120"/>
            <a:ext cx="1463040" cy="206210"/>
          </a:xfrm>
          <a:prstGeom prst="rect">
            <a:avLst/>
          </a:prstGeom>
          <a:noFill/>
        </p:spPr>
        <p:txBody>
          <a:bodyPr wrap="square" lIns="0" tIns="18288" rIns="54864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 dirty="0">
                <a:solidFill>
                  <a:srgbClr val="6B7883"/>
                </a:solidFill>
                <a:latin typeface="Segoe UI"/>
              </a:rPr>
              <a:t>recoverable?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246120"/>
            <a:ext cx="1554480" cy="206210"/>
          </a:xfrm>
          <a:prstGeom prst="rect">
            <a:avLst/>
          </a:prstGeom>
          <a:noFill/>
        </p:spPr>
        <p:txBody>
          <a:bodyPr wrap="square" lIns="0" tIns="18288" rIns="54864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883"/>
                </a:solidFill>
                <a:latin typeface="Segoe UI"/>
              </a:rPr>
              <a:t>decodable?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7581" y="3657600"/>
            <a:ext cx="1737360" cy="206210"/>
          </a:xfrm>
          <a:prstGeom prst="rect">
            <a:avLst/>
          </a:prstGeom>
          <a:noFill/>
        </p:spPr>
        <p:txBody>
          <a:bodyPr wrap="square" lIns="0" tIns="18288" rIns="54864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883"/>
                </a:solidFill>
                <a:latin typeface="Segoe UI"/>
              </a:rPr>
              <a:t>functionally used?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0451" y="3730752"/>
            <a:ext cx="4206240" cy="252377"/>
          </a:xfrm>
          <a:prstGeom prst="rect">
            <a:avLst/>
          </a:prstGeom>
          <a:noFill/>
        </p:spPr>
        <p:txBody>
          <a:bodyPr wrap="square" lIns="0" tIns="18288" rIns="54864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B7883"/>
                </a:solidFill>
                <a:latin typeface="Segoe UI"/>
              </a:rPr>
              <a:t>two testbeds instantiate the protocol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18488" y="4133088"/>
            <a:ext cx="4105656" cy="1234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DF2F9"/>
              </a:gs>
              <a:gs pos="100000">
                <a:srgbClr val="DEE9F6"/>
              </a:gs>
            </a:gsLst>
            <a:lin ang="16200000" scaled="0"/>
          </a:gradFill>
          <a:ln w="15875">
            <a:solidFill>
              <a:srgbClr val="8FA8C8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61872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26343F"/>
                </a:solidFill>
                <a:latin typeface="Segoe UI"/>
              </a:rPr>
              <a:t>PokeWorld</a:t>
            </a:r>
            <a:endParaRPr sz="1600" b="1" i="0" dirty="0">
              <a:solidFill>
                <a:srgbClr val="26343F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616B"/>
                </a:solidFill>
                <a:latin typeface="Segoe UI"/>
              </a:rPr>
              <a:t>simulated arena · ground-truth m, γ, k</a:t>
            </a:r>
          </a:p>
        </p:txBody>
      </p:sp>
      <p:pic>
        <p:nvPicPr>
          <p:cNvPr id="28" name="Picture 27" descr="pokewor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7672" y="4270248"/>
            <a:ext cx="960120" cy="960120"/>
          </a:xfrm>
          <a:prstGeom prst="roundRect">
            <a:avLst>
              <a:gd name="adj" fmla="val 10000"/>
            </a:avLst>
          </a:prstGeom>
          <a:ln w="19050">
            <a:solidFill>
              <a:srgbClr val="FFFFFF"/>
            </a:solidFill>
          </a:ln>
        </p:spPr>
      </p:pic>
      <p:sp>
        <p:nvSpPr>
          <p:cNvPr id="29" name="Rounded Rectangle 28"/>
          <p:cNvSpPr/>
          <p:nvPr/>
        </p:nvSpPr>
        <p:spPr>
          <a:xfrm>
            <a:off x="5957316" y="4133088"/>
            <a:ext cx="4105656" cy="12344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F0E0"/>
              </a:gs>
              <a:gs pos="100000">
                <a:srgbClr val="F6E6CB"/>
              </a:gs>
            </a:gsLst>
            <a:lin ang="16200000" scaled="0"/>
          </a:gradFill>
          <a:ln w="15875">
            <a:solidFill>
              <a:srgbClr val="C09B62"/>
            </a:solidFill>
          </a:ln>
          <a:effectLst>
            <a:outerShdw blurRad="50292" dist="25603" dir="5400000" rotWithShape="0">
              <a:srgbClr val="7C8B99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61872" tIns="18288" rIns="54864" bIns="1828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6343F"/>
                </a:solidFill>
                <a:latin typeface="Segoe UI"/>
              </a:rPr>
              <a:t>RH20T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55616B"/>
                </a:solidFill>
                <a:latin typeface="Segoe UI"/>
              </a:rPr>
              <a:t>real robot streams · held-out tasks</a:t>
            </a:r>
          </a:p>
        </p:txBody>
      </p:sp>
      <p:pic>
        <p:nvPicPr>
          <p:cNvPr id="30" name="Picture 29" descr="rh20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9879" y="4270248"/>
            <a:ext cx="960120" cy="960120"/>
          </a:xfrm>
          <a:prstGeom prst="roundRect">
            <a:avLst>
              <a:gd name="adj" fmla="val 10000"/>
            </a:avLst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Kz Tan</cp:lastModifiedBy>
  <cp:revision>4</cp:revision>
  <dcterms:created xsi:type="dcterms:W3CDTF">2013-01-27T09:14:16Z</dcterms:created>
  <dcterms:modified xsi:type="dcterms:W3CDTF">2026-07-29T02:59:08Z</dcterms:modified>
  <cp:category/>
</cp:coreProperties>
</file>